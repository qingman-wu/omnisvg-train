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63" r:id="rId6"/>
    <p:sldId id="265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6D9"/>
    <a:srgbClr val="00B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65"/>
    <p:restoredTop sz="97877"/>
  </p:normalViewPr>
  <p:slideViewPr>
    <p:cSldViewPr snapToGrid="0" showGuides="1">
      <p:cViewPr>
        <p:scale>
          <a:sx n="207" d="100"/>
          <a:sy n="207" d="100"/>
        </p:scale>
        <p:origin x="155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7D4D9-9CA7-604D-AC13-FC6E19D73EFE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A5492-4C74-7E46-8BDC-C0BA5D3B6D4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50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5492-4C74-7E46-8BDC-C0BA5D3B6D4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099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5492-4C74-7E46-8BDC-C0BA5D3B6D4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6421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A5492-4C74-7E46-8BDC-C0BA5D3B6D4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0735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6F156-6531-AB40-97C4-A5A0FAD47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4DFCD5-BE96-1272-4F92-1D2FD1D87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1FA24-0921-2DBA-C101-EEBBBB23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B9990B-CE2A-5C9E-1829-D639FAC8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AB9EEC-94A5-CF29-BA54-57691349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779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D42AE-FE01-B41F-5E5B-8F6F2149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23D14B-4C88-27BF-3FE3-B07912C1C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A7751C-07E2-F07D-F89E-9104B234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395AE5-238C-8C01-555F-5F731B989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5411D7-1D77-9A0E-76CF-3968B3D9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2557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02C76-1BEF-3232-458E-DA6FD4172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7164BB-85B8-8F91-C5FC-2DFF7FEDD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8200A-BD29-FC63-BC93-63855B22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97A88-B930-986A-92EE-1A6DBE40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4523C2-CB52-FAD6-B045-3B72BB67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355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12B56C-5560-384A-8850-36EA2434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4A54AC-DC38-1885-CC4D-40430298CE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C615F3-FDDC-3D70-2B13-8C1A59CEC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D356D9-00D2-FC1C-79F4-728F652D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AA1BB-D7AE-7183-371B-07B7415E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CCE5EE-3342-D5DB-93A7-A9BADC81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605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40E032-343C-A322-464C-24974E12A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125BB4-62BF-7CF7-480C-4A23F9BA6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754D2E-BDB4-0101-C25D-24DBEA029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032F01D-57B2-6FCB-E98A-8E3BE0A2B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4C36BE7-1B3B-F967-81EE-52EA0C72E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1A88B7-5F65-564E-9D57-6ADB7599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0820EB-59B7-D768-45E4-4B4B61DE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4E7D8B8-D888-E623-3977-A97DDEAA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970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6B412-AF03-6294-F3FC-CCE1AF24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D7DC65-9277-406B-0CC6-7B95061CF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5B01CF-219C-D804-47C0-00957F638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1441DB-D477-D5F2-0907-3A505801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072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AC9ED0-2230-7A0F-723B-44E8BA8DC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76BB3B-E17D-D329-365D-B46D4538C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568C65-29DA-C961-6F8A-A7B0F09F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586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BD3B2-454C-DDDF-AA62-162AF479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B86CE-4801-ACED-596D-50D716AC0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5D9920-34A6-D170-A30D-74631F31B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9AEA-655F-26DC-B981-DADB4145C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367086-272D-8CED-5A1B-934025DC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77B901-61C1-8FE2-2141-EA2450D0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2467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B8373-9531-198C-5BC8-9FD98919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85611C-FC65-EBBD-294C-15FB6AD7E9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D15B89-7E00-D863-74D7-E2662CA4D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C599F9-6910-3ED6-16C9-2069249A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CFC44D-6C39-FC5B-96E8-435E6A54B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C92E07-985E-EE24-0CE1-93124B17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192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319D8-B31F-A418-0DA1-593BBC90F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FAE15C-958B-CA69-53B6-2299D84CB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B47ACD-E1F6-0110-A57A-DCE822C3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C0569E-3887-766B-9066-BC511F47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4FA93-828D-0E5F-8334-48D95CA7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4065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834690-2430-AD07-C1A8-57685DA11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BFDE0F-115B-6295-677C-2792FB239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6016B2-783F-1F20-5FE9-4CA455F5C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379BC4-9161-E11E-D714-56671844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F85AF2-F453-9CF3-1FC3-DFE29AC1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401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CBCAAC-62FB-E06E-D68C-5D21DBB7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964722-5E72-3242-1EB0-974E4B9D3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D038BF-75CB-C722-F342-DED071C78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CC0CE-21D4-BE40-BB3C-0E2A4FF68275}" type="datetimeFigureOut">
              <a:rPr kumimoji="1" lang="zh-CN" altLang="en-US" smtClean="0"/>
              <a:t>2026/6/10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38CD8-1B4F-4204-5393-B997D5FDD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B9CA5E-258E-8EE0-5AAD-AA4E81EB4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01035E-A015-414A-9600-4F076BF6B3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0033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1FA114-8A6C-9685-375E-82211E36B111}"/>
              </a:ext>
            </a:extLst>
          </p:cNvPr>
          <p:cNvSpPr txBox="1"/>
          <p:nvPr/>
        </p:nvSpPr>
        <p:spPr>
          <a:xfrm>
            <a:off x="2260933" y="905794"/>
            <a:ext cx="7495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Native</a:t>
            </a:r>
            <a:r>
              <a:rPr kumimoji="1" lang="zh-CN" altLang="en-US" sz="28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 范式如何迁移到 </a:t>
            </a:r>
            <a:r>
              <a:rPr kumimoji="1" lang="en-US" altLang="zh-CN" sz="2800" b="1" dirty="0">
                <a:latin typeface="PingFang SC" panose="020B0400000000000000" pitchFamily="34" charset="-122"/>
                <a:ea typeface="PingFang SC" panose="020B0400000000000000" pitchFamily="34" charset="-122"/>
              </a:rPr>
              <a:t>world-action-model</a:t>
            </a:r>
            <a:endParaRPr kumimoji="1" lang="zh-CN" altLang="en-US" sz="2800" b="1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651599-957F-6EE8-96B4-EB22FF7F8F4F}"/>
              </a:ext>
            </a:extLst>
          </p:cNvPr>
          <p:cNvSpPr txBox="1"/>
          <p:nvPr/>
        </p:nvSpPr>
        <p:spPr>
          <a:xfrm>
            <a:off x="2348018" y="2151727"/>
            <a:ext cx="44018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PingFang SC"/>
                <a:ea typeface="PingFang SC"/>
                <a:cs typeface="PingFang SC"/>
              </a:rPr>
              <a:t>整理重点：</a:t>
            </a:r>
            <a:endParaRPr lang="en-US" altLang="zh-CN" sz="2000" dirty="0">
              <a:latin typeface="PingFang SC"/>
              <a:ea typeface="PingFang SC"/>
              <a:cs typeface="PingFang SC"/>
            </a:endParaRPr>
          </a:p>
          <a:p>
            <a:endParaRPr lang="en-US" altLang="zh-CN" sz="2000" dirty="0">
              <a:latin typeface="PingFang SC"/>
              <a:ea typeface="PingFang SC"/>
              <a:cs typeface="PingFang SC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2000" dirty="0">
                <a:latin typeface="PingFang SC"/>
                <a:ea typeface="PingFang SC"/>
                <a:cs typeface="PingFang SC"/>
              </a:rPr>
              <a:t>为什么需要 </a:t>
            </a:r>
            <a:r>
              <a:rPr lang="en" altLang="zh-CN" sz="2000" dirty="0">
                <a:latin typeface="PingFang SC"/>
                <a:ea typeface="PingFang SC"/>
                <a:cs typeface="PingFang SC"/>
              </a:rPr>
              <a:t>native</a:t>
            </a:r>
          </a:p>
          <a:p>
            <a:endParaRPr lang="en-US" altLang="zh-CN" sz="2000" dirty="0">
              <a:latin typeface="PingFang SC"/>
              <a:ea typeface="PingFang SC"/>
              <a:cs typeface="PingFang SC"/>
            </a:endParaRPr>
          </a:p>
          <a:p>
            <a:r>
              <a:rPr lang="en-US" altLang="zh-CN" sz="2000" dirty="0">
                <a:latin typeface="PingFang SC"/>
                <a:ea typeface="PingFang SC"/>
                <a:cs typeface="PingFang SC"/>
              </a:rPr>
              <a:t>2.</a:t>
            </a:r>
            <a:r>
              <a:rPr lang="zh-CN" altLang="en-US" sz="2000" dirty="0">
                <a:latin typeface="PingFang SC"/>
                <a:ea typeface="PingFang SC"/>
                <a:cs typeface="PingFang SC"/>
              </a:rPr>
              <a:t>  各领域如何演化</a:t>
            </a:r>
            <a:endParaRPr lang="en-US" altLang="zh-CN" sz="2000" dirty="0">
              <a:latin typeface="PingFang SC"/>
              <a:ea typeface="PingFang SC"/>
              <a:cs typeface="PingFang SC"/>
            </a:endParaRPr>
          </a:p>
          <a:p>
            <a:endParaRPr lang="en-US" altLang="zh-CN" sz="2000" dirty="0">
              <a:latin typeface="PingFang SC"/>
              <a:ea typeface="PingFang SC"/>
              <a:cs typeface="PingFang SC"/>
            </a:endParaRPr>
          </a:p>
          <a:p>
            <a:r>
              <a:rPr lang="en-US" altLang="zh-CN" sz="2000" dirty="0">
                <a:latin typeface="PingFang SC"/>
                <a:ea typeface="PingFang SC"/>
                <a:cs typeface="PingFang SC"/>
              </a:rPr>
              <a:t>3.</a:t>
            </a:r>
            <a:r>
              <a:rPr lang="zh-CN" altLang="en-US" sz="2000" dirty="0">
                <a:latin typeface="PingFang SC"/>
                <a:ea typeface="PingFang SC"/>
                <a:cs typeface="PingFang SC"/>
              </a:rPr>
              <a:t>  </a:t>
            </a:r>
            <a:r>
              <a:rPr lang="en-US" altLang="zh-CN" sz="2000" dirty="0">
                <a:latin typeface="PingFang SC"/>
                <a:ea typeface="PingFang SC"/>
                <a:cs typeface="PingFang SC"/>
              </a:rPr>
              <a:t>Nativate</a:t>
            </a:r>
            <a:r>
              <a:rPr lang="zh-CN" altLang="en-US" sz="2000" dirty="0">
                <a:latin typeface="PingFang SC"/>
                <a:ea typeface="PingFang SC"/>
                <a:cs typeface="PingFang SC"/>
              </a:rPr>
              <a:t> </a:t>
            </a:r>
            <a:r>
              <a:rPr lang="en" altLang="zh-CN" sz="2000" dirty="0">
                <a:latin typeface="PingFang SC"/>
                <a:ea typeface="PingFang SC"/>
                <a:cs typeface="PingFang SC"/>
              </a:rPr>
              <a:t>WAM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2253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17A5067F-05D6-4FB0-0B22-28D3AF4A442E}"/>
              </a:ext>
            </a:extLst>
          </p:cNvPr>
          <p:cNvSpPr>
            <a:spLocks noGrp="1"/>
          </p:cNvSpPr>
          <p:nvPr/>
        </p:nvSpPr>
        <p:spPr>
          <a:xfrm>
            <a:off x="8286268" y="2145039"/>
            <a:ext cx="3685269" cy="115196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1BD5DE5-C1ED-3192-0640-D31C08871895}"/>
              </a:ext>
            </a:extLst>
          </p:cNvPr>
          <p:cNvSpPr>
            <a:spLocks noGrp="1"/>
          </p:cNvSpPr>
          <p:nvPr/>
        </p:nvSpPr>
        <p:spPr>
          <a:xfrm>
            <a:off x="4025402" y="2145039"/>
            <a:ext cx="3404896" cy="115196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00BCC8-8534-DD99-527D-72B5E75E2EED}"/>
              </a:ext>
            </a:extLst>
          </p:cNvPr>
          <p:cNvSpPr txBox="1"/>
          <p:nvPr/>
        </p:nvSpPr>
        <p:spPr>
          <a:xfrm>
            <a:off x="1715581" y="190451"/>
            <a:ext cx="8448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先定一个</a:t>
            </a:r>
            <a:r>
              <a:rPr kumimoji="1" lang="zh-CN" altLang="en-US" sz="2400" b="1" dirty="0">
                <a:solidFill>
                  <a:srgbClr val="C00000"/>
                </a:solidFill>
              </a:rPr>
              <a:t>总定义</a:t>
            </a:r>
            <a:r>
              <a:rPr kumimoji="1" lang="zh-CN" altLang="en-US" sz="2400" b="1" dirty="0"/>
              <a:t>：</a:t>
            </a:r>
            <a:r>
              <a:rPr kumimoji="1" lang="en-US" altLang="zh-CN" sz="2400" b="1" dirty="0"/>
              <a:t>native</a:t>
            </a:r>
            <a:r>
              <a:rPr kumimoji="1" lang="zh-CN" altLang="en-US" sz="2400" b="1" dirty="0"/>
              <a:t> 不是单一领域，而是反模块瓶颈范式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BDAB4B-6BC9-3852-9A07-4594ABA9A627}"/>
              </a:ext>
            </a:extLst>
          </p:cNvPr>
          <p:cNvSpPr txBox="1"/>
          <p:nvPr/>
        </p:nvSpPr>
        <p:spPr>
          <a:xfrm>
            <a:off x="130073" y="948356"/>
            <a:ext cx="892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哪里存在外部 </a:t>
            </a:r>
            <a:r>
              <a:rPr kumimoji="1" lang="en-US" altLang="zh-CN" dirty="0"/>
              <a:t>encoder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tokenizer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decoder</a:t>
            </a:r>
            <a:r>
              <a:rPr kumimoji="1" lang="zh-CN" altLang="en-US" dirty="0"/>
              <a:t> 定义的表征瓶颈， 哪里就会出现 </a:t>
            </a:r>
            <a:r>
              <a:rPr kumimoji="1" lang="en-US" altLang="zh-CN" dirty="0"/>
              <a:t>native</a:t>
            </a:r>
            <a:r>
              <a:rPr kumimoji="1" lang="zh-CN" altLang="en-US" dirty="0"/>
              <a:t> 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037FEE-D907-EF51-6441-DAAC3616F0A9}"/>
              </a:ext>
            </a:extLst>
          </p:cNvPr>
          <p:cNvSpPr txBox="1"/>
          <p:nvPr/>
        </p:nvSpPr>
        <p:spPr>
          <a:xfrm>
            <a:off x="130073" y="152004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现有比较确定，成体系的领域：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2E28BA-3323-4E58-0D7D-7EB629A3A150}"/>
              </a:ext>
            </a:extLst>
          </p:cNvPr>
          <p:cNvSpPr>
            <a:spLocks noGrp="1"/>
          </p:cNvSpPr>
          <p:nvPr/>
        </p:nvSpPr>
        <p:spPr>
          <a:xfrm>
            <a:off x="224969" y="2149261"/>
            <a:ext cx="2998071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3304BB-3D07-C7E5-7DC6-696C5BB62792}"/>
              </a:ext>
            </a:extLst>
          </p:cNvPr>
          <p:cNvSpPr>
            <a:spLocks noGrp="1"/>
          </p:cNvSpPr>
          <p:nvPr/>
        </p:nvSpPr>
        <p:spPr>
          <a:xfrm>
            <a:off x="312870" y="2300504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C8D6E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rgbClr val="3C8D6E"/>
                </a:solidFill>
                <a:latin typeface="PingFang SC"/>
                <a:ea typeface="PingFang SC"/>
                <a:cs typeface="PingFang SC"/>
              </a:rPr>
              <a:t>A.</a:t>
            </a:r>
            <a:r>
              <a:rPr lang="zh-CN" altLang="en-US" sz="1600" b="1" dirty="0">
                <a:solidFill>
                  <a:srgbClr val="3C8D6E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dirty="0">
                <a:solidFill>
                  <a:srgbClr val="3C8D6E"/>
                </a:solidFill>
                <a:latin typeface="PingFang SC"/>
                <a:ea typeface="PingFang SC"/>
                <a:cs typeface="PingFang SC"/>
              </a:rPr>
              <a:t>Native VLM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DC1D67-9625-D499-82C4-427C569429A5}"/>
              </a:ext>
            </a:extLst>
          </p:cNvPr>
          <p:cNvSpPr>
            <a:spLocks noGrp="1"/>
          </p:cNvSpPr>
          <p:nvPr/>
        </p:nvSpPr>
        <p:spPr>
          <a:xfrm>
            <a:off x="266811" y="2826649"/>
            <a:ext cx="4095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07080"/>
                </a:solidFill>
                <a:latin typeface="Aptos Mono"/>
                <a:ea typeface="Aptos Mono"/>
                <a:cs typeface="Aptos Mono"/>
              </a:defRPr>
            </a:pPr>
            <a:r>
              <a:rPr sz="1200" b="0" dirty="0">
                <a:solidFill>
                  <a:srgbClr val="607080"/>
                </a:solidFill>
                <a:latin typeface="Aptos Mono"/>
                <a:ea typeface="Aptos Mono"/>
                <a:cs typeface="Aptos Mono"/>
              </a:rPr>
              <a:t>pixels / video patches -&gt; words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009BC8-DE41-FEB6-88C9-AB03D8F6A9F8}"/>
              </a:ext>
            </a:extLst>
          </p:cNvPr>
          <p:cNvSpPr txBox="1"/>
          <p:nvPr/>
        </p:nvSpPr>
        <p:spPr>
          <a:xfrm>
            <a:off x="4025402" y="2117415"/>
            <a:ext cx="3404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400" dirty="0">
              <a:solidFill>
                <a:srgbClr val="17212B"/>
              </a:solidFill>
              <a:latin typeface="PingFang SC"/>
              <a:ea typeface="PingFang SC"/>
              <a:cs typeface="PingFang SC"/>
            </a:endParaRPr>
          </a:p>
          <a:p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</a:rPr>
              <a:t>视觉理解不想再被外部 </a:t>
            </a:r>
            <a:r>
              <a:rPr lang="en" altLang="zh-CN" sz="1400" dirty="0">
                <a:solidFill>
                  <a:srgbClr val="17212B"/>
                </a:solidFill>
                <a:latin typeface="PingFang SC"/>
                <a:ea typeface="PingFang SC"/>
              </a:rPr>
              <a:t>VE </a:t>
            </a:r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</a:rPr>
              <a:t>锁死</a:t>
            </a:r>
          </a:p>
          <a:p>
            <a:br>
              <a:rPr lang="en-US" altLang="zh-CN" sz="1400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</a:br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去掉 </a:t>
            </a:r>
            <a:r>
              <a:rPr lang="en" altLang="zh-CN" sz="1400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VE</a:t>
            </a:r>
            <a:r>
              <a:rPr lang="zh-CN" altLang="en" sz="1400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让视觉理解在模型内部学出来</a:t>
            </a:r>
          </a:p>
          <a:p>
            <a:endParaRPr lang="zh-CN" altLang="en-US" sz="1400" dirty="0">
              <a:solidFill>
                <a:srgbClr val="17212B"/>
              </a:solidFill>
              <a:latin typeface="PingFang SC"/>
              <a:ea typeface="PingFang SC"/>
              <a:cs typeface="PingFang SC"/>
            </a:endParaRPr>
          </a:p>
          <a:p>
            <a:endParaRPr kumimoji="1" lang="zh-CN" altLang="en-US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9930AA-7088-01FF-D9D7-BEEEEA5C4EB7}"/>
              </a:ext>
            </a:extLst>
          </p:cNvPr>
          <p:cNvSpPr>
            <a:spLocks noGrp="1"/>
          </p:cNvSpPr>
          <p:nvPr/>
        </p:nvSpPr>
        <p:spPr>
          <a:xfrm>
            <a:off x="3223041" y="2407956"/>
            <a:ext cx="697018" cy="5052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3200" b="1" dirty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9CAF85-3484-1F33-C0FB-027FC7E86165}"/>
              </a:ext>
            </a:extLst>
          </p:cNvPr>
          <p:cNvSpPr>
            <a:spLocks noGrp="1"/>
          </p:cNvSpPr>
          <p:nvPr/>
        </p:nvSpPr>
        <p:spPr>
          <a:xfrm>
            <a:off x="7430298" y="2433854"/>
            <a:ext cx="697018" cy="5052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3200" b="1" dirty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C0124B-93BB-6FFC-C2C2-58D472A5778C}"/>
              </a:ext>
            </a:extLst>
          </p:cNvPr>
          <p:cNvSpPr txBox="1"/>
          <p:nvPr/>
        </p:nvSpPr>
        <p:spPr>
          <a:xfrm>
            <a:off x="8354713" y="2433854"/>
            <a:ext cx="3616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Fuyu, EVE, NEO, NEO-ov, ELVA</a:t>
            </a:r>
          </a:p>
          <a:p>
            <a:endParaRPr kumimoji="1"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E182B5C-0F2D-BEC1-9343-002B5AB33169}"/>
              </a:ext>
            </a:extLst>
          </p:cNvPr>
          <p:cNvSpPr>
            <a:spLocks noGrp="1"/>
          </p:cNvSpPr>
          <p:nvPr/>
        </p:nvSpPr>
        <p:spPr>
          <a:xfrm>
            <a:off x="8302952" y="3715551"/>
            <a:ext cx="3685269" cy="115196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C786B6B-CC7F-5240-A79E-CB8626A8511A}"/>
              </a:ext>
            </a:extLst>
          </p:cNvPr>
          <p:cNvSpPr>
            <a:spLocks noGrp="1"/>
          </p:cNvSpPr>
          <p:nvPr/>
        </p:nvSpPr>
        <p:spPr>
          <a:xfrm>
            <a:off x="4042086" y="3715551"/>
            <a:ext cx="3404896" cy="115196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4B248B-5C17-2500-23B2-1ACCB925E59C}"/>
              </a:ext>
            </a:extLst>
          </p:cNvPr>
          <p:cNvSpPr>
            <a:spLocks noGrp="1"/>
          </p:cNvSpPr>
          <p:nvPr/>
        </p:nvSpPr>
        <p:spPr>
          <a:xfrm>
            <a:off x="241653" y="3719773"/>
            <a:ext cx="2998071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8DB418A-A55D-2A30-3388-3ECE58210834}"/>
              </a:ext>
            </a:extLst>
          </p:cNvPr>
          <p:cNvSpPr>
            <a:spLocks noGrp="1"/>
          </p:cNvSpPr>
          <p:nvPr/>
        </p:nvSpPr>
        <p:spPr>
          <a:xfrm>
            <a:off x="329554" y="3871016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C8D6E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chemeClr val="accent2"/>
                </a:solidFill>
                <a:latin typeface="PingFang SC"/>
                <a:ea typeface="PingFang SC"/>
                <a:cs typeface="PingFang SC"/>
              </a:rPr>
              <a:t>B.</a:t>
            </a:r>
            <a:r>
              <a:rPr lang="zh-CN" altLang="en-US" sz="1600" b="1" dirty="0">
                <a:solidFill>
                  <a:schemeClr val="accent2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dirty="0">
                <a:solidFill>
                  <a:schemeClr val="accent2"/>
                </a:solidFill>
                <a:latin typeface="PingFang SC"/>
                <a:ea typeface="PingFang SC"/>
                <a:cs typeface="PingFang SC"/>
              </a:rPr>
              <a:t>Native </a:t>
            </a:r>
            <a:r>
              <a:rPr lang="en-US" altLang="zh-CN" sz="1600" b="1" dirty="0">
                <a:solidFill>
                  <a:schemeClr val="accent2"/>
                </a:solidFill>
                <a:latin typeface="PingFang SC"/>
                <a:ea typeface="PingFang SC"/>
                <a:cs typeface="PingFang SC"/>
              </a:rPr>
              <a:t>UMM</a:t>
            </a:r>
            <a:endParaRPr sz="1600" b="1" dirty="0">
              <a:solidFill>
                <a:schemeClr val="accent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0667C50-8F19-BABB-7A8F-04D6EE4DE405}"/>
              </a:ext>
            </a:extLst>
          </p:cNvPr>
          <p:cNvSpPr txBox="1"/>
          <p:nvPr/>
        </p:nvSpPr>
        <p:spPr>
          <a:xfrm>
            <a:off x="4068890" y="3924192"/>
            <a:ext cx="3404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反对 </a:t>
            </a:r>
            <a:r>
              <a:rPr lang="en" altLang="zh-CN" sz="1400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VE/VAE/VQ </a:t>
            </a:r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把理解和生成切成两套空间</a:t>
            </a:r>
          </a:p>
          <a:p>
            <a:endParaRPr kumimoji="1" lang="zh-CN" altLang="en-US" sz="1400" dirty="0"/>
          </a:p>
          <a:p>
            <a:endParaRPr kumimoji="1" lang="zh-CN" altLang="en-US" sz="1400" b="1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F754651-73F2-5492-7CFC-3BE42934AE82}"/>
              </a:ext>
            </a:extLst>
          </p:cNvPr>
          <p:cNvSpPr>
            <a:spLocks noGrp="1"/>
          </p:cNvSpPr>
          <p:nvPr/>
        </p:nvSpPr>
        <p:spPr>
          <a:xfrm>
            <a:off x="3239725" y="3978468"/>
            <a:ext cx="697018" cy="5052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3200" b="1" dirty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9DC9A7C-B7DD-62FD-461C-9542DFEEF638}"/>
              </a:ext>
            </a:extLst>
          </p:cNvPr>
          <p:cNvSpPr>
            <a:spLocks noGrp="1"/>
          </p:cNvSpPr>
          <p:nvPr/>
        </p:nvSpPr>
        <p:spPr>
          <a:xfrm>
            <a:off x="7446982" y="4004366"/>
            <a:ext cx="697018" cy="5052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3200" b="1" dirty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CE31509-F589-E33D-0F97-12660B3B532A}"/>
              </a:ext>
            </a:extLst>
          </p:cNvPr>
          <p:cNvSpPr>
            <a:spLocks noGrp="1"/>
          </p:cNvSpPr>
          <p:nvPr/>
        </p:nvSpPr>
        <p:spPr>
          <a:xfrm>
            <a:off x="8302953" y="5397516"/>
            <a:ext cx="3685269" cy="115196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4B1C6F8-E14F-10D0-8DE6-C5C911425EC6}"/>
              </a:ext>
            </a:extLst>
          </p:cNvPr>
          <p:cNvSpPr>
            <a:spLocks noGrp="1"/>
          </p:cNvSpPr>
          <p:nvPr/>
        </p:nvSpPr>
        <p:spPr>
          <a:xfrm>
            <a:off x="4042087" y="5397516"/>
            <a:ext cx="3404896" cy="1151962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A0BD4D6-CF2B-1087-3649-9B4DD6C52957}"/>
              </a:ext>
            </a:extLst>
          </p:cNvPr>
          <p:cNvSpPr>
            <a:spLocks noGrp="1"/>
          </p:cNvSpPr>
          <p:nvPr/>
        </p:nvSpPr>
        <p:spPr>
          <a:xfrm>
            <a:off x="241654" y="5401738"/>
            <a:ext cx="2998071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9EE1429-9604-470E-0840-0AA6F743954F}"/>
              </a:ext>
            </a:extLst>
          </p:cNvPr>
          <p:cNvSpPr>
            <a:spLocks noGrp="1"/>
          </p:cNvSpPr>
          <p:nvPr/>
        </p:nvSpPr>
        <p:spPr>
          <a:xfrm>
            <a:off x="329555" y="5552981"/>
            <a:ext cx="2676112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C8D6E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  <a:cs typeface="PingFang SC"/>
              </a:rPr>
              <a:t>B.</a:t>
            </a:r>
            <a:r>
              <a:rPr lang="zh-CN" alt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  <a:cs typeface="PingFang SC"/>
              </a:rPr>
              <a:t>N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  <a:cs typeface="PingFang SC"/>
              </a:rPr>
              <a:t>o-VAE</a:t>
            </a:r>
            <a:r>
              <a:rPr lang="zh-CN" alt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  <a:cs typeface="PingFang SC"/>
              </a:rPr>
              <a:t>Img</a:t>
            </a:r>
            <a:r>
              <a:rPr lang="zh-CN" alt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  <a:cs typeface="PingFang SC"/>
              </a:rPr>
              <a:t>Generation</a:t>
            </a:r>
            <a:endParaRPr sz="1600" b="1" dirty="0">
              <a:solidFill>
                <a:schemeClr val="tx2">
                  <a:lumMod val="50000"/>
                  <a:lumOff val="50000"/>
                </a:schemeClr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3EA29C3-8C6A-1C2D-DB20-781D826A87B9}"/>
              </a:ext>
            </a:extLst>
          </p:cNvPr>
          <p:cNvSpPr txBox="1"/>
          <p:nvPr/>
        </p:nvSpPr>
        <p:spPr>
          <a:xfrm>
            <a:off x="4025402" y="5525560"/>
            <a:ext cx="34048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</a:rPr>
              <a:t>反对 </a:t>
            </a:r>
            <a:r>
              <a:rPr lang="en" altLang="zh-CN" sz="1400" dirty="0">
                <a:solidFill>
                  <a:srgbClr val="17212B"/>
                </a:solidFill>
                <a:latin typeface="PingFang SC"/>
                <a:ea typeface="PingFang SC"/>
              </a:rPr>
              <a:t>VAE latent </a:t>
            </a:r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</a:rPr>
              <a:t>限制图像生成上限</a:t>
            </a:r>
            <a:endParaRPr lang="en-US" altLang="zh-CN" sz="1400" dirty="0">
              <a:solidFill>
                <a:srgbClr val="17212B"/>
              </a:solidFill>
              <a:latin typeface="PingFang SC"/>
              <a:ea typeface="PingFang SC"/>
            </a:endParaRPr>
          </a:p>
          <a:p>
            <a:endParaRPr lang="en-US" altLang="zh-CN" sz="1400" dirty="0">
              <a:solidFill>
                <a:srgbClr val="17212B"/>
              </a:solidFill>
              <a:latin typeface="PingFang SC"/>
              <a:ea typeface="PingFang SC"/>
            </a:endParaRPr>
          </a:p>
          <a:p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</a:rPr>
              <a:t>证明不经 </a:t>
            </a:r>
            <a:r>
              <a:rPr lang="en" altLang="zh-CN" sz="1400" dirty="0">
                <a:solidFill>
                  <a:srgbClr val="17212B"/>
                </a:solidFill>
                <a:latin typeface="PingFang SC"/>
                <a:ea typeface="PingFang SC"/>
              </a:rPr>
              <a:t>VAE latent </a:t>
            </a:r>
            <a:r>
              <a:rPr lang="zh-CN" altLang="en-US" sz="1400" dirty="0">
                <a:solidFill>
                  <a:srgbClr val="17212B"/>
                </a:solidFill>
                <a:latin typeface="PingFang SC"/>
                <a:ea typeface="PingFang SC"/>
              </a:rPr>
              <a:t>也能生成高质量图像</a:t>
            </a:r>
          </a:p>
          <a:p>
            <a:endParaRPr lang="zh-CN" altLang="en-US" sz="1400" dirty="0">
              <a:solidFill>
                <a:srgbClr val="17212B"/>
              </a:solidFill>
              <a:latin typeface="PingFang SC"/>
              <a:ea typeface="PingFang SC"/>
              <a:cs typeface="PingFang SC"/>
            </a:endParaRPr>
          </a:p>
          <a:p>
            <a:endParaRPr kumimoji="1" lang="zh-CN" altLang="en-US" sz="1400" dirty="0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E2D84EF-326B-F46D-5B45-4B321DD67172}"/>
              </a:ext>
            </a:extLst>
          </p:cNvPr>
          <p:cNvSpPr>
            <a:spLocks noGrp="1"/>
          </p:cNvSpPr>
          <p:nvPr/>
        </p:nvSpPr>
        <p:spPr>
          <a:xfrm>
            <a:off x="3239726" y="5660433"/>
            <a:ext cx="697018" cy="5052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3200" b="1" dirty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F056FDA-92E1-D8B9-620A-110358652DC1}"/>
              </a:ext>
            </a:extLst>
          </p:cNvPr>
          <p:cNvSpPr>
            <a:spLocks noGrp="1"/>
          </p:cNvSpPr>
          <p:nvPr/>
        </p:nvSpPr>
        <p:spPr>
          <a:xfrm>
            <a:off x="7446983" y="5686331"/>
            <a:ext cx="697018" cy="50528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607080"/>
                </a:solidFill>
                <a:latin typeface="Aptos"/>
                <a:ea typeface="Aptos"/>
                <a:cs typeface="Aptos"/>
              </a:defRPr>
            </a:pPr>
            <a:r>
              <a:rPr sz="3200" b="1" dirty="0">
                <a:solidFill>
                  <a:srgbClr val="60708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0B87224-F7D4-5730-BC2D-A3BF3CF3F001}"/>
              </a:ext>
            </a:extLst>
          </p:cNvPr>
          <p:cNvSpPr txBox="1"/>
          <p:nvPr/>
        </p:nvSpPr>
        <p:spPr>
          <a:xfrm>
            <a:off x="8354713" y="5525560"/>
            <a:ext cx="3616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JiT, There is No VAE, DiP, DeCo, PixelDiT, PixelGen, L2P, AsymFlow</a:t>
            </a:r>
          </a:p>
          <a:p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0AD809D-B1D1-9AA9-AB16-AD4C85559F1F}"/>
              </a:ext>
            </a:extLst>
          </p:cNvPr>
          <p:cNvSpPr txBox="1"/>
          <p:nvPr/>
        </p:nvSpPr>
        <p:spPr>
          <a:xfrm>
            <a:off x="241652" y="4473487"/>
            <a:ext cx="297389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200" dirty="0">
                <a:solidFill>
                  <a:srgbClr val="607080"/>
                </a:solidFill>
                <a:latin typeface="Aptos Mono"/>
              </a:rPr>
              <a:t>pixels + words -&gt; text / image</a:t>
            </a:r>
          </a:p>
          <a:p>
            <a:endParaRPr kumimoji="1"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CADBE8E-63B1-DA64-4E85-3EF9E6FE15AC}"/>
              </a:ext>
            </a:extLst>
          </p:cNvPr>
          <p:cNvSpPr txBox="1"/>
          <p:nvPr/>
        </p:nvSpPr>
        <p:spPr>
          <a:xfrm>
            <a:off x="8337174" y="3993471"/>
            <a:ext cx="3616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solidFill>
                  <a:srgbClr val="17212B"/>
                </a:solidFill>
                <a:latin typeface="PingFang SC"/>
                <a:ea typeface="PingFang SC"/>
              </a:rPr>
              <a:t>Show-o, Janus, BAGEL, RF, Tuna-2, SenseNova-U1</a:t>
            </a:r>
          </a:p>
          <a:p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3DBA7F8-51F9-74DA-2B74-0D5296734A30}"/>
              </a:ext>
            </a:extLst>
          </p:cNvPr>
          <p:cNvSpPr txBox="1"/>
          <p:nvPr/>
        </p:nvSpPr>
        <p:spPr>
          <a:xfrm>
            <a:off x="244454" y="6068418"/>
            <a:ext cx="2601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863" b="0">
                <a:solidFill>
                  <a:srgbClr val="607080"/>
                </a:solidFill>
                <a:latin typeface="Aptos Mono"/>
                <a:ea typeface="Aptos Mono"/>
                <a:cs typeface="Aptos Mono"/>
              </a:defRPr>
            </a:pPr>
            <a:r>
              <a:rPr lang="en" altLang="zh-CN" sz="1200" dirty="0">
                <a:solidFill>
                  <a:srgbClr val="607080"/>
                </a:solidFill>
                <a:latin typeface="Aptos Mono"/>
              </a:rPr>
              <a:t>pixels -&gt; image generation</a:t>
            </a:r>
          </a:p>
        </p:txBody>
      </p:sp>
    </p:spTree>
    <p:extLst>
      <p:ext uri="{BB962C8B-B14F-4D97-AF65-F5344CB8AC3E}">
        <p14:creationId xmlns:p14="http://schemas.microsoft.com/office/powerpoint/2010/main" val="79841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4A41EAD-52B9-18A3-EA19-6E867AA6F845}"/>
              </a:ext>
            </a:extLst>
          </p:cNvPr>
          <p:cNvSpPr txBox="1"/>
          <p:nvPr/>
        </p:nvSpPr>
        <p:spPr>
          <a:xfrm>
            <a:off x="0" y="155642"/>
            <a:ext cx="100623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3C8D6E"/>
                </a:solidFill>
                <a:latin typeface="PingFang SC"/>
                <a:ea typeface="PingFang SC"/>
              </a:rPr>
              <a:t>为什么 </a:t>
            </a:r>
            <a:r>
              <a:rPr lang="en" altLang="zh-CN" b="1" dirty="0">
                <a:solidFill>
                  <a:srgbClr val="3C8D6E"/>
                </a:solidFill>
                <a:latin typeface="PingFang SC"/>
                <a:ea typeface="PingFang SC"/>
              </a:rPr>
              <a:t>VLM </a:t>
            </a:r>
            <a:r>
              <a:rPr lang="zh-CN" altLang="en-US" b="1" dirty="0">
                <a:solidFill>
                  <a:srgbClr val="3C8D6E"/>
                </a:solidFill>
                <a:latin typeface="PingFang SC"/>
                <a:ea typeface="PingFang SC"/>
              </a:rPr>
              <a:t>想 </a:t>
            </a:r>
            <a:r>
              <a:rPr lang="en" altLang="zh-CN" b="1" dirty="0">
                <a:solidFill>
                  <a:srgbClr val="3C8D6E"/>
                </a:solidFill>
                <a:latin typeface="PingFang SC"/>
                <a:ea typeface="PingFang SC"/>
              </a:rPr>
              <a:t>native</a:t>
            </a:r>
            <a:r>
              <a:rPr lang="zh-CN" altLang="en" b="1" dirty="0">
                <a:solidFill>
                  <a:srgbClr val="3C8D6E"/>
                </a:solidFill>
                <a:latin typeface="PingFang SC"/>
                <a:ea typeface="PingFang SC"/>
              </a:rPr>
              <a:t>：</a:t>
            </a:r>
            <a:r>
              <a:rPr lang="zh-CN" altLang="en-US" b="1" dirty="0">
                <a:solidFill>
                  <a:srgbClr val="3C8D6E"/>
                </a:solidFill>
                <a:latin typeface="PingFang SC"/>
                <a:ea typeface="PingFang SC"/>
              </a:rPr>
              <a:t>视觉理解不想再被外部 </a:t>
            </a:r>
            <a:r>
              <a:rPr lang="en" altLang="zh-CN" b="1" dirty="0">
                <a:solidFill>
                  <a:srgbClr val="3C8D6E"/>
                </a:solidFill>
                <a:latin typeface="PingFang SC"/>
                <a:ea typeface="PingFang SC"/>
              </a:rPr>
              <a:t>VE </a:t>
            </a:r>
            <a:r>
              <a:rPr lang="zh-CN" altLang="en-US" b="1" dirty="0">
                <a:solidFill>
                  <a:srgbClr val="3C8D6E"/>
                </a:solidFill>
                <a:latin typeface="PingFang SC"/>
                <a:ea typeface="PingFang SC"/>
              </a:rPr>
              <a:t>锁死，从 </a:t>
            </a:r>
            <a:r>
              <a:rPr lang="en" altLang="zh-CN" b="1" dirty="0">
                <a:solidFill>
                  <a:srgbClr val="3C8D6E"/>
                </a:solidFill>
                <a:latin typeface="PingFang SC"/>
                <a:ea typeface="PingFang SC"/>
              </a:rPr>
              <a:t>patch </a:t>
            </a:r>
            <a:r>
              <a:rPr lang="zh-CN" altLang="en-US" b="1" dirty="0">
                <a:solidFill>
                  <a:srgbClr val="3C8D6E"/>
                </a:solidFill>
                <a:latin typeface="PingFang SC"/>
                <a:ea typeface="PingFang SC"/>
              </a:rPr>
              <a:t>输入到原生多模态 </a:t>
            </a:r>
            <a:r>
              <a:rPr lang="en" altLang="zh-CN" b="1" dirty="0">
                <a:solidFill>
                  <a:srgbClr val="3C8D6E"/>
                </a:solidFill>
                <a:latin typeface="PingFang SC"/>
                <a:ea typeface="PingFang SC"/>
              </a:rPr>
              <a:t>primitive</a:t>
            </a:r>
            <a:endParaRPr lang="zh-CN" altLang="en-US" b="1" dirty="0">
              <a:solidFill>
                <a:srgbClr val="3C8D6E"/>
              </a:solidFill>
              <a:latin typeface="PingFang SC"/>
              <a:ea typeface="PingFang SC"/>
            </a:endParaRPr>
          </a:p>
          <a:p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0A6002-F69D-3392-6E32-C73E58FAC33D}"/>
              </a:ext>
            </a:extLst>
          </p:cNvPr>
          <p:cNvSpPr txBox="1"/>
          <p:nvPr/>
        </p:nvSpPr>
        <p:spPr>
          <a:xfrm>
            <a:off x="0" y="626082"/>
            <a:ext cx="52950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/>
              <a:t>2023｜Fuyu：最小原型</a:t>
            </a:r>
            <a:endParaRPr lang="en-US" altLang="zh-CN" b="1" dirty="0"/>
          </a:p>
          <a:p>
            <a:endParaRPr lang="en-US" altLang="zh-CN" b="1" dirty="0"/>
          </a:p>
          <a:p>
            <a:r>
              <a:rPr kumimoji="1" lang="en" altLang="zh-CN" dirty="0"/>
              <a:t>image patches </a:t>
            </a:r>
            <a:r>
              <a:rPr kumimoji="1" lang="zh-CN" altLang="en-US" dirty="0"/>
              <a:t>直接进入 </a:t>
            </a:r>
            <a:r>
              <a:rPr kumimoji="1" lang="en" altLang="zh-CN" dirty="0"/>
              <a:t>decoder-only Transformer</a:t>
            </a:r>
          </a:p>
          <a:p>
            <a:r>
              <a:rPr kumimoji="1" lang="zh-CN" altLang="en-US" dirty="0"/>
              <a:t>证明：</a:t>
            </a:r>
            <a:r>
              <a:rPr kumimoji="1" lang="en" altLang="zh-CN" dirty="0"/>
              <a:t>VLM </a:t>
            </a:r>
            <a:r>
              <a:rPr kumimoji="1" lang="zh-CN" altLang="en-US" dirty="0"/>
              <a:t>可以不依赖传统 </a:t>
            </a:r>
            <a:r>
              <a:rPr kumimoji="1" lang="en" altLang="zh-CN" dirty="0"/>
              <a:t>vision encoder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9F68C8-A4A3-4102-6257-ECA6B21BD66E}"/>
              </a:ext>
            </a:extLst>
          </p:cNvPr>
          <p:cNvSpPr txBox="1"/>
          <p:nvPr/>
        </p:nvSpPr>
        <p:spPr>
          <a:xfrm>
            <a:off x="5674519" y="549994"/>
            <a:ext cx="65174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2024｜EVE / Mono-InternVL：训练稳定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dirty="0"/>
              <a:t>开始系统解决 </a:t>
            </a:r>
            <a:r>
              <a:rPr lang="en" altLang="zh-CN" dirty="0"/>
              <a:t>encoder-free </a:t>
            </a:r>
            <a:r>
              <a:rPr lang="zh-CN" altLang="en-US" dirty="0"/>
              <a:t>的训练问题</a:t>
            </a:r>
          </a:p>
          <a:p>
            <a:r>
              <a:rPr lang="zh-CN" altLang="en-US" dirty="0"/>
              <a:t>将模型内部视觉 </a:t>
            </a:r>
            <a:r>
              <a:rPr lang="en" altLang="zh-CN" dirty="0"/>
              <a:t>hidden states </a:t>
            </a:r>
            <a:r>
              <a:rPr lang="zh-CN" altLang="en-US" dirty="0"/>
              <a:t>对齐到成熟 </a:t>
            </a:r>
            <a:r>
              <a:rPr lang="en" altLang="zh-CN" dirty="0"/>
              <a:t>vision encoder </a:t>
            </a:r>
            <a:r>
              <a:rPr lang="zh-CN" altLang="en-US" dirty="0"/>
              <a:t>的特征。</a:t>
            </a:r>
          </a:p>
          <a:p>
            <a:r>
              <a:rPr lang="zh-CN" altLang="en-US" dirty="0"/>
              <a:t>这样视觉学习不再只依赖间接的 </a:t>
            </a:r>
            <a:r>
              <a:rPr lang="en" altLang="zh-CN" dirty="0"/>
              <a:t>next-word loss</a:t>
            </a:r>
            <a:r>
              <a:rPr lang="zh-CN" altLang="en" dirty="0"/>
              <a:t>，</a:t>
            </a:r>
            <a:r>
              <a:rPr lang="zh-CN" altLang="en-US" dirty="0"/>
              <a:t>而有了直接的视觉表征监督。</a:t>
            </a:r>
            <a:br>
              <a:rPr lang="zh-CN" altLang="zh-CN" dirty="0"/>
            </a:b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7C60D5-4B57-D8F0-1BE6-632870322206}"/>
              </a:ext>
            </a:extLst>
          </p:cNvPr>
          <p:cNvSpPr txBox="1"/>
          <p:nvPr/>
        </p:nvSpPr>
        <p:spPr>
          <a:xfrm>
            <a:off x="5450" y="2750842"/>
            <a:ext cx="502573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/>
              <a:t>2025｜ELVA / Video-Panda：视频扩展</a:t>
            </a:r>
            <a:endParaRPr lang="en-US" altLang="zh-CN" b="1" dirty="0"/>
          </a:p>
          <a:p>
            <a:endParaRPr kumimoji="1" lang="en-US" altLang="zh-CN" b="1" dirty="0"/>
          </a:p>
          <a:p>
            <a:r>
              <a:rPr kumimoji="1" lang="zh-CN" altLang="en-US" dirty="0"/>
              <a:t>把 </a:t>
            </a:r>
            <a:r>
              <a:rPr kumimoji="1" lang="en" altLang="zh-CN" dirty="0"/>
              <a:t>encoder-free </a:t>
            </a:r>
            <a:r>
              <a:rPr kumimoji="1" lang="zh-CN" altLang="en-US" dirty="0"/>
              <a:t>从图像理解扩展到视频理解</a:t>
            </a:r>
          </a:p>
          <a:p>
            <a:r>
              <a:rPr kumimoji="1" lang="zh-CN" altLang="en-US" dirty="0"/>
              <a:t>重点：视频 </a:t>
            </a:r>
            <a:r>
              <a:rPr kumimoji="1" lang="en" altLang="zh-CN" dirty="0"/>
              <a:t>token </a:t>
            </a:r>
            <a:r>
              <a:rPr kumimoji="1" lang="zh-CN" altLang="en-US" dirty="0"/>
              <a:t>成本、时空压缩、长视频效率</a:t>
            </a:r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8A7686B-4509-79CF-E959-D3658260B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3480" y="4120694"/>
            <a:ext cx="8654601" cy="246350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7B7D67C-C239-CE53-C903-BE807257019A}"/>
              </a:ext>
            </a:extLst>
          </p:cNvPr>
          <p:cNvSpPr txBox="1"/>
          <p:nvPr/>
        </p:nvSpPr>
        <p:spPr>
          <a:xfrm>
            <a:off x="5674519" y="2737306"/>
            <a:ext cx="64412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2025-2026｜NEO / NEO-ov：体系化 primitive</a:t>
            </a:r>
            <a:endParaRPr lang="en-US" altLang="zh-CN" b="1" dirty="0"/>
          </a:p>
          <a:p>
            <a:r>
              <a:rPr kumimoji="1" lang="zh-CN" altLang="en-US" dirty="0"/>
              <a:t>不只是去掉 </a:t>
            </a:r>
            <a:r>
              <a:rPr kumimoji="1" lang="en" altLang="zh-CN" dirty="0"/>
              <a:t>VE</a:t>
            </a:r>
            <a:r>
              <a:rPr kumimoji="1" lang="zh-CN" altLang="en" dirty="0"/>
              <a:t>，</a:t>
            </a:r>
            <a:r>
              <a:rPr kumimoji="1" lang="zh-CN" altLang="en-US" dirty="0"/>
              <a:t>而是重新设计 </a:t>
            </a:r>
            <a:r>
              <a:rPr kumimoji="1" lang="en" altLang="zh-CN" dirty="0"/>
              <a:t>native attention / </a:t>
            </a:r>
            <a:r>
              <a:rPr kumimoji="1" lang="en" altLang="zh-CN" dirty="0" err="1"/>
              <a:t>RoPE</a:t>
            </a:r>
            <a:r>
              <a:rPr kumimoji="1" lang="en" altLang="zh-CN" dirty="0"/>
              <a:t> / pre-buffer</a:t>
            </a:r>
          </a:p>
          <a:p>
            <a:r>
              <a:rPr kumimoji="1" lang="zh-CN" altLang="en-US" dirty="0"/>
              <a:t>目标：统一图像、多图、视频、空间理解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1884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D3FB0-F17B-B332-B93C-747A9277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914CAA-88A9-35B4-D580-1B1F2F61A561}"/>
              </a:ext>
            </a:extLst>
          </p:cNvPr>
          <p:cNvSpPr txBox="1"/>
          <p:nvPr/>
        </p:nvSpPr>
        <p:spPr>
          <a:xfrm>
            <a:off x="-75043" y="52297"/>
            <a:ext cx="66800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2"/>
                </a:solidFill>
                <a:latin typeface="PingFang SC"/>
                <a:ea typeface="PingFang SC"/>
              </a:rPr>
              <a:t>为什么 </a:t>
            </a:r>
            <a:r>
              <a:rPr lang="en" altLang="zh-CN" sz="1600" b="1" dirty="0">
                <a:solidFill>
                  <a:schemeClr val="accent2"/>
                </a:solidFill>
                <a:latin typeface="PingFang SC"/>
                <a:ea typeface="PingFang SC"/>
              </a:rPr>
              <a:t>UMM </a:t>
            </a:r>
            <a:r>
              <a:rPr lang="zh-CN" altLang="en-US" sz="1600" b="1" dirty="0">
                <a:solidFill>
                  <a:schemeClr val="accent2"/>
                </a:solidFill>
                <a:latin typeface="PingFang SC"/>
                <a:ea typeface="PingFang SC"/>
              </a:rPr>
              <a:t>想 </a:t>
            </a:r>
            <a:r>
              <a:rPr lang="en" altLang="zh-CN" sz="1600" b="1" dirty="0">
                <a:solidFill>
                  <a:schemeClr val="accent2"/>
                </a:solidFill>
                <a:latin typeface="PingFang SC"/>
                <a:ea typeface="PingFang SC"/>
              </a:rPr>
              <a:t>native</a:t>
            </a:r>
            <a:r>
              <a:rPr lang="zh-CN" altLang="en" sz="1600" b="1" dirty="0">
                <a:solidFill>
                  <a:schemeClr val="accent2"/>
                </a:solidFill>
                <a:latin typeface="PingFang SC"/>
                <a:ea typeface="PingFang SC"/>
              </a:rPr>
              <a:t>：</a:t>
            </a:r>
            <a:r>
              <a:rPr lang="en-US" altLang="zh-CN" sz="1600" b="1" dirty="0">
                <a:solidFill>
                  <a:schemeClr val="accent2"/>
                </a:solidFill>
                <a:latin typeface="PingFang SC"/>
                <a:ea typeface="PingFang SC"/>
              </a:rPr>
              <a:t>vae</a:t>
            </a:r>
            <a:r>
              <a:rPr lang="zh-CN" altLang="en-US" sz="1600" b="1" dirty="0">
                <a:solidFill>
                  <a:schemeClr val="accent2"/>
                </a:solidFill>
                <a:latin typeface="PingFang SC"/>
                <a:ea typeface="PingFang SC"/>
              </a:rPr>
              <a:t>像素重建目标不一定适合</a:t>
            </a:r>
            <a:r>
              <a:rPr lang="en-US" altLang="zh-CN" sz="1600" b="1" dirty="0">
                <a:solidFill>
                  <a:schemeClr val="accent2"/>
                </a:solidFill>
                <a:latin typeface="PingFang SC"/>
                <a:ea typeface="PingFang SC"/>
              </a:rPr>
              <a:t>unified</a:t>
            </a:r>
            <a:r>
              <a:rPr lang="zh-CN" altLang="en-US" sz="1600" b="1" dirty="0">
                <a:solidFill>
                  <a:schemeClr val="accent2"/>
                </a:solidFill>
                <a:latin typeface="PingFang SC"/>
                <a:ea typeface="PingFang SC"/>
              </a:rPr>
              <a:t>建模目标</a:t>
            </a:r>
            <a:endParaRPr kumimoji="1"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7AC1F5-87C6-A692-98D1-6DA169AC5469}"/>
              </a:ext>
            </a:extLst>
          </p:cNvPr>
          <p:cNvSpPr>
            <a:spLocks noGrp="1"/>
          </p:cNvSpPr>
          <p:nvPr/>
        </p:nvSpPr>
        <p:spPr>
          <a:xfrm>
            <a:off x="78955" y="603060"/>
            <a:ext cx="1719263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C8D6E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1.</a:t>
            </a:r>
            <a:r>
              <a:rPr lang="zh-CN" altLang="en-US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Show-o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CECE04B-917E-6DCD-ACE3-617F97087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583730"/>
            <a:ext cx="3600450" cy="17448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5B9051E-EAFF-D9E8-2994-9D3D941A91C9}"/>
              </a:ext>
            </a:extLst>
          </p:cNvPr>
          <p:cNvSpPr txBox="1"/>
          <p:nvPr/>
        </p:nvSpPr>
        <p:spPr>
          <a:xfrm>
            <a:off x="1130017" y="582845"/>
            <a:ext cx="4100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单 </a:t>
            </a:r>
            <a:r>
              <a:rPr lang="en" altLang="zh-CN" sz="1400" b="1" dirty="0">
                <a:solidFill>
                  <a:srgbClr val="17212B"/>
                </a:solidFill>
                <a:latin typeface="PingFang SC"/>
                <a:ea typeface="PingFang SC"/>
                <a:cs typeface="PingFang SC"/>
              </a:rPr>
              <a:t>Transformer + discrete image tokens</a:t>
            </a:r>
          </a:p>
          <a:p>
            <a:endParaRPr kumimoji="1" lang="zh-CN" altLang="en-US" sz="14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307AE75-BAEF-7E44-FA78-77A4EE75D4F5}"/>
              </a:ext>
            </a:extLst>
          </p:cNvPr>
          <p:cNvSpPr txBox="1"/>
          <p:nvPr/>
        </p:nvSpPr>
        <p:spPr>
          <a:xfrm>
            <a:off x="400050" y="1000139"/>
            <a:ext cx="4162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30" b="0">
                <a:solidFill>
                  <a:srgbClr val="60708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用 </a:t>
            </a:r>
            <a:r>
              <a:rPr lang="en" altLang="zh-CN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MAGVIT-v2 token </a:t>
            </a:r>
            <a:r>
              <a:rPr lang="zh-CN" altLang="en-US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和 </a:t>
            </a:r>
            <a:r>
              <a:rPr lang="en" altLang="zh-CN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MaskGIT </a:t>
            </a:r>
            <a:r>
              <a:rPr lang="zh-CN" altLang="en-US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目标统一理解</a:t>
            </a:r>
            <a:r>
              <a:rPr lang="en-US" altLang="zh-CN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lang="zh-CN" altLang="en-US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生成；但理解侧 </a:t>
            </a:r>
            <a:r>
              <a:rPr lang="en" altLang="zh-CN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CLIP continuous </a:t>
            </a:r>
            <a:r>
              <a:rPr lang="zh-CN" altLang="en-US" sz="1200" b="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更强。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C859EF9-8D92-726A-B812-FBAE29CB9ECD}"/>
              </a:ext>
            </a:extLst>
          </p:cNvPr>
          <p:cNvSpPr>
            <a:spLocks noGrp="1"/>
          </p:cNvSpPr>
          <p:nvPr/>
        </p:nvSpPr>
        <p:spPr>
          <a:xfrm>
            <a:off x="5619922" y="634905"/>
            <a:ext cx="400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3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3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61EF7C0-5662-97B6-27A3-105FBEBEB3CC}"/>
              </a:ext>
            </a:extLst>
          </p:cNvPr>
          <p:cNvSpPr>
            <a:spLocks noGrp="1"/>
          </p:cNvSpPr>
          <p:nvPr/>
        </p:nvSpPr>
        <p:spPr>
          <a:xfrm>
            <a:off x="6019972" y="588990"/>
            <a:ext cx="1719263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C8D6E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2.</a:t>
            </a:r>
            <a:r>
              <a:rPr lang="zh-CN" altLang="en-US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Janus</a:t>
            </a:r>
            <a:endParaRPr sz="1600" b="1" dirty="0">
              <a:solidFill>
                <a:srgbClr val="C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32323DE-3AD4-0CE0-5BA3-78C757F54D1A}"/>
              </a:ext>
            </a:extLst>
          </p:cNvPr>
          <p:cNvSpPr txBox="1"/>
          <p:nvPr/>
        </p:nvSpPr>
        <p:spPr>
          <a:xfrm>
            <a:off x="6019972" y="1062116"/>
            <a:ext cx="57719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60708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理解用 </a:t>
            </a:r>
            <a:r>
              <a:rPr lang="en" altLang="zh-C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SigLIP</a:t>
            </a:r>
            <a:r>
              <a:rPr lang="zh-CN" altLang="e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生成用 </a:t>
            </a:r>
            <a:r>
              <a:rPr lang="en" altLang="zh-C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VQ tokenizer</a:t>
            </a:r>
            <a:r>
              <a:rPr lang="zh-CN" altLang="e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；</a:t>
            </a: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承认理解和生成需要不同粒度。</a:t>
            </a: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485F5A17-B210-4C5E-489A-F43E222EA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975" y="1506507"/>
            <a:ext cx="4937640" cy="2060205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34C97087-7479-6ABF-A410-B2964077D11E}"/>
              </a:ext>
            </a:extLst>
          </p:cNvPr>
          <p:cNvSpPr>
            <a:spLocks noGrp="1"/>
          </p:cNvSpPr>
          <p:nvPr/>
        </p:nvSpPr>
        <p:spPr>
          <a:xfrm>
            <a:off x="78955" y="3937419"/>
            <a:ext cx="1719263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C8D6E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3.</a:t>
            </a:r>
            <a:r>
              <a:rPr lang="zh-CN" altLang="en-US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Bagel</a:t>
            </a:r>
            <a:endParaRPr sz="1600" b="1" dirty="0">
              <a:solidFill>
                <a:srgbClr val="C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C112CF3-EACE-D91A-CB0B-0DF444B6A778}"/>
              </a:ext>
            </a:extLst>
          </p:cNvPr>
          <p:cNvSpPr txBox="1"/>
          <p:nvPr/>
        </p:nvSpPr>
        <p:spPr>
          <a:xfrm>
            <a:off x="130596" y="4291361"/>
            <a:ext cx="41625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0">
                <a:solidFill>
                  <a:srgbClr val="607080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通过大规模图文</a:t>
            </a:r>
            <a:r>
              <a:rPr lang="en-US" altLang="zh-C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视频</a:t>
            </a:r>
            <a:r>
              <a:rPr lang="en-US" altLang="zh-C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网页 </a:t>
            </a:r>
            <a:r>
              <a:rPr lang="en" altLang="zh-C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interleaved </a:t>
            </a: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数据涌现复杂能力；但生成仍用 </a:t>
            </a:r>
            <a:r>
              <a:rPr lang="en" altLang="zh-C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FLUX VAE</a:t>
            </a:r>
            <a:r>
              <a:rPr lang="zh-CN" altLang="en" sz="1200" dirty="0">
                <a:solidFill>
                  <a:srgbClr val="607080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0DE99FF-0C4C-E057-93B3-4AD02BFEE1B7}"/>
              </a:ext>
            </a:extLst>
          </p:cNvPr>
          <p:cNvSpPr>
            <a:spLocks noGrp="1"/>
          </p:cNvSpPr>
          <p:nvPr/>
        </p:nvSpPr>
        <p:spPr>
          <a:xfrm>
            <a:off x="6098212" y="3968041"/>
            <a:ext cx="3173379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3C8D6E"/>
                </a:solidFill>
                <a:latin typeface="PingFang SC"/>
                <a:ea typeface="PingFang SC"/>
                <a:cs typeface="PingFang SC"/>
              </a:defRPr>
            </a:pP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4.</a:t>
            </a:r>
            <a:r>
              <a:rPr lang="zh-CN" altLang="en-US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RF/</a:t>
            </a:r>
            <a:r>
              <a:rPr lang="zh-CN" altLang="en-US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Tuna-2/</a:t>
            </a:r>
            <a:r>
              <a:rPr lang="zh-CN" altLang="en-US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PingFang SC"/>
                <a:ea typeface="PingFang SC"/>
                <a:cs typeface="PingFang SC"/>
              </a:rPr>
              <a:t>SenseNova-U1</a:t>
            </a:r>
            <a:endParaRPr sz="1600" b="1" dirty="0">
              <a:solidFill>
                <a:srgbClr val="C00000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9AE06C18-6822-7103-7FBC-6AD996C7B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820" y="4981246"/>
            <a:ext cx="4493150" cy="1680717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53BAE792-26FF-79C5-A936-F0447F11AE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372" y="4780519"/>
            <a:ext cx="3893535" cy="1915715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F36E7C77-364E-8D42-9976-E3120B01D3AA}"/>
              </a:ext>
            </a:extLst>
          </p:cNvPr>
          <p:cNvSpPr txBox="1"/>
          <p:nvPr/>
        </p:nvSpPr>
        <p:spPr>
          <a:xfrm>
            <a:off x="7017007" y="573438"/>
            <a:ext cx="41007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17212B"/>
                </a:solidFill>
                <a:latin typeface="PingFang SC"/>
                <a:ea typeface="PingFang SC"/>
              </a:rPr>
              <a:t>解耦视觉编码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350B551-2AC0-5B27-CBC8-37BE5CC32490}"/>
              </a:ext>
            </a:extLst>
          </p:cNvPr>
          <p:cNvSpPr txBox="1"/>
          <p:nvPr/>
        </p:nvSpPr>
        <p:spPr>
          <a:xfrm>
            <a:off x="1130017" y="3910293"/>
            <a:ext cx="2396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400" b="1" dirty="0">
                <a:solidFill>
                  <a:srgbClr val="17212B"/>
                </a:solidFill>
                <a:latin typeface="PingFang SC"/>
                <a:ea typeface="PingFang SC"/>
              </a:rPr>
              <a:t>MoT + interleaved scaling</a:t>
            </a:r>
          </a:p>
          <a:p>
            <a:endParaRPr kumimoji="1"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29A505F-4962-70E7-1A05-E06F9BF44B0F}"/>
              </a:ext>
            </a:extLst>
          </p:cNvPr>
          <p:cNvSpPr txBox="1"/>
          <p:nvPr/>
        </p:nvSpPr>
        <p:spPr>
          <a:xfrm>
            <a:off x="9176368" y="3936376"/>
            <a:ext cx="2768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1400" b="1" dirty="0">
                <a:solidFill>
                  <a:srgbClr val="17212B"/>
                </a:solidFill>
                <a:latin typeface="PingFang SC"/>
                <a:ea typeface="PingFang SC"/>
              </a:rPr>
              <a:t>bottleneck-free / pixel-native</a:t>
            </a:r>
          </a:p>
          <a:p>
            <a:endParaRPr kumimoji="1"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3803DC0-F86E-FE17-C162-F3038E8F7635}"/>
              </a:ext>
            </a:extLst>
          </p:cNvPr>
          <p:cNvSpPr txBox="1"/>
          <p:nvPr/>
        </p:nvSpPr>
        <p:spPr>
          <a:xfrm>
            <a:off x="6093789" y="4261770"/>
            <a:ext cx="55101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</a:rPr>
              <a:t>开始真正挑战 </a:t>
            </a:r>
            <a:r>
              <a:rPr lang="en" altLang="zh-CN" sz="1200" dirty="0">
                <a:solidFill>
                  <a:srgbClr val="607080"/>
                </a:solidFill>
                <a:latin typeface="PingFang SC"/>
                <a:ea typeface="PingFang SC"/>
              </a:rPr>
              <a:t>frozen VAE / VE</a:t>
            </a:r>
            <a:r>
              <a:rPr lang="zh-CN" altLang="en" sz="1200" dirty="0">
                <a:solidFill>
                  <a:srgbClr val="607080"/>
                </a:solidFill>
                <a:latin typeface="PingFang SC"/>
                <a:ea typeface="PingFang SC"/>
              </a:rPr>
              <a:t>：</a:t>
            </a: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</a:rPr>
              <a:t>预测表征、</a:t>
            </a:r>
            <a:r>
              <a:rPr lang="en" altLang="zh-CN" sz="1200" dirty="0">
                <a:solidFill>
                  <a:srgbClr val="607080"/>
                </a:solidFill>
                <a:latin typeface="PingFang SC"/>
                <a:ea typeface="PingFang SC"/>
              </a:rPr>
              <a:t>pixel embedding</a:t>
            </a:r>
            <a:r>
              <a:rPr lang="zh-CN" altLang="en" sz="1200" dirty="0">
                <a:solidFill>
                  <a:srgbClr val="607080"/>
                </a:solidFill>
                <a:latin typeface="PingFang SC"/>
                <a:ea typeface="PingFang SC"/>
              </a:rPr>
              <a:t>、</a:t>
            </a:r>
            <a:r>
              <a:rPr lang="en" altLang="zh-CN" sz="1200" dirty="0">
                <a:solidFill>
                  <a:srgbClr val="607080"/>
                </a:solidFill>
                <a:latin typeface="PingFang SC"/>
                <a:ea typeface="PingFang SC"/>
              </a:rPr>
              <a:t>raw pixels + text </a:t>
            </a:r>
            <a:r>
              <a:rPr lang="zh-CN" altLang="en-US" sz="1200" dirty="0">
                <a:solidFill>
                  <a:srgbClr val="607080"/>
                </a:solidFill>
                <a:latin typeface="PingFang SC"/>
                <a:ea typeface="PingFang SC"/>
              </a:rPr>
              <a:t>统一建模。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6013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685F-00B2-61C0-6955-898B6986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522345F-3349-9326-1ACF-1836651B56C4}"/>
              </a:ext>
            </a:extLst>
          </p:cNvPr>
          <p:cNvSpPr txBox="1"/>
          <p:nvPr/>
        </p:nvSpPr>
        <p:spPr>
          <a:xfrm>
            <a:off x="0" y="169374"/>
            <a:ext cx="666400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</a:rPr>
              <a:t>为什么 </a:t>
            </a:r>
            <a:r>
              <a:rPr lang="en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</a:rPr>
              <a:t>No-VAE 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</a:rPr>
              <a:t>Img</a:t>
            </a:r>
            <a:r>
              <a:rPr lang="en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</a:rPr>
              <a:t> Generation </a:t>
            </a:r>
            <a:r>
              <a:rPr lang="zh-CN" alt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</a:rPr>
              <a:t>重要：证明 </a:t>
            </a:r>
            <a:r>
              <a:rPr lang="en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</a:rPr>
              <a:t>pixel-space </a:t>
            </a:r>
            <a:r>
              <a:rPr lang="zh-CN" alt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ingFang SC"/>
                <a:ea typeface="PingFang SC"/>
              </a:rPr>
              <a:t>不是死路</a:t>
            </a:r>
          </a:p>
          <a:p>
            <a:endParaRPr kumimoji="1"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0DB4604-79D7-417B-F561-F8D34C275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788397"/>
              </p:ext>
            </p:extLst>
          </p:nvPr>
        </p:nvGraphicFramePr>
        <p:xfrm>
          <a:off x="300305" y="893135"/>
          <a:ext cx="11174202" cy="452852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20035">
                  <a:extLst>
                    <a:ext uri="{9D8B030D-6E8A-4147-A177-3AD203B41FA5}">
                      <a16:colId xmlns:a16="http://schemas.microsoft.com/office/drawing/2014/main" val="1477359683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162015812"/>
                    </a:ext>
                  </a:extLst>
                </a:gridCol>
                <a:gridCol w="6182417">
                  <a:extLst>
                    <a:ext uri="{9D8B030D-6E8A-4147-A177-3AD203B41FA5}">
                      <a16:colId xmlns:a16="http://schemas.microsoft.com/office/drawing/2014/main" val="3597083992"/>
                    </a:ext>
                  </a:extLst>
                </a:gridCol>
              </a:tblGrid>
              <a:tr h="6469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方向</a:t>
                      </a:r>
                    </a:p>
                  </a:txBody>
                  <a:tcPr>
                    <a:solidFill>
                      <a:srgbClr val="4E96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代表</a:t>
                      </a:r>
                    </a:p>
                  </a:txBody>
                  <a:tcPr>
                    <a:solidFill>
                      <a:srgbClr val="4E96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关键做法</a:t>
                      </a:r>
                    </a:p>
                  </a:txBody>
                  <a:tcPr>
                    <a:solidFill>
                      <a:srgbClr val="4E96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93093"/>
                  </a:ext>
                </a:extLst>
              </a:tr>
              <a:tr h="6469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干净目标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Jit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no tokenizer</a:t>
                      </a:r>
                      <a:r>
                        <a:rPr lang="zh-CN" altLang="en" sz="1600" b="0" dirty="0">
                          <a:solidFill>
                            <a:srgbClr val="17212B"/>
                          </a:solidFill>
                        </a:rPr>
                        <a:t>；</a:t>
                      </a: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直接 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x-pred clean image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89783"/>
                  </a:ext>
                </a:extLst>
              </a:tr>
              <a:tr h="6469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表征预训练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There is No VAE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先 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SSL </a:t>
                      </a: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预训练 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encoder</a:t>
                      </a:r>
                      <a:r>
                        <a:rPr lang="zh-CN" altLang="en" sz="1600" b="0" dirty="0">
                          <a:solidFill>
                            <a:srgbClr val="17212B"/>
                          </a:solidFill>
                        </a:rPr>
                        <a:t>，</a:t>
                      </a: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再端到端像素生成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015901"/>
                  </a:ext>
                </a:extLst>
              </a:tr>
              <a:tr h="6469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全局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en-US" dirty="0"/>
                        <a:t>局部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DiP / PixelDiT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大 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patch </a:t>
                      </a: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管全局，小头补局部细节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187036"/>
                  </a:ext>
                </a:extLst>
              </a:tr>
              <a:tr h="6469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频率解耦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DeCo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dirty="0" err="1">
                          <a:solidFill>
                            <a:srgbClr val="17212B"/>
                          </a:solidFill>
                        </a:rPr>
                        <a:t>DiT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 </a:t>
                      </a: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管低频语义，轻 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decoder </a:t>
                      </a: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管高频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066177"/>
                  </a:ext>
                </a:extLst>
              </a:tr>
              <a:tr h="6469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感知补强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PixelGen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LPIPS + P-DINO </a:t>
                      </a: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等 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perceptual loss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479313"/>
                  </a:ext>
                </a:extLst>
              </a:tr>
              <a:tr h="64693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迁移路线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L2P / AsymFlow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把 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latent prior </a:t>
                      </a:r>
                      <a:r>
                        <a:rPr lang="zh-CN" altLang="en-US" sz="1600" b="0" dirty="0">
                          <a:solidFill>
                            <a:srgbClr val="17212B"/>
                          </a:solidFill>
                        </a:rPr>
                        <a:t>迁移到 </a:t>
                      </a:r>
                      <a:r>
                        <a:rPr lang="en" altLang="zh-CN" sz="1600" b="0" dirty="0">
                          <a:solidFill>
                            <a:srgbClr val="17212B"/>
                          </a:solidFill>
                        </a:rPr>
                        <a:t>pixel-space</a:t>
                      </a:r>
                    </a:p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764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30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59C8D5C-9987-EE92-25E9-58564B935A9D}"/>
              </a:ext>
            </a:extLst>
          </p:cNvPr>
          <p:cNvSpPr txBox="1"/>
          <p:nvPr/>
        </p:nvSpPr>
        <p:spPr>
          <a:xfrm>
            <a:off x="46471" y="226504"/>
            <a:ext cx="53091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UMM </a:t>
            </a:r>
            <a:r>
              <a:rPr kumimoji="1"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：</a:t>
            </a:r>
            <a:endParaRPr kumimoji="1" lang="en-US" altLang="zh-C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kumimoji="1" lang="zh-CN" altLang="en-US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kumimoji="1" lang="en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VAE latent </a:t>
            </a:r>
            <a:r>
              <a:rPr kumimoji="1"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优化的是像素重建，</a:t>
            </a:r>
            <a:endParaRPr kumimoji="1" lang="en-US" altLang="zh-C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kumimoji="1"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不一定适合 </a:t>
            </a:r>
            <a:r>
              <a:rPr kumimoji="1" lang="en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unified understanding + generation</a:t>
            </a:r>
            <a:endParaRPr kumimoji="1" lang="zh-CN" altLang="e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kumimoji="1" lang="zh-CN" altLang="e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kumimoji="1" lang="zh-CN" altLang="e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032297-2549-1257-CEB3-50017316B031}"/>
              </a:ext>
            </a:extLst>
          </p:cNvPr>
          <p:cNvSpPr txBox="1"/>
          <p:nvPr/>
        </p:nvSpPr>
        <p:spPr>
          <a:xfrm>
            <a:off x="-590939" y="2022609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最好的视觉</a:t>
            </a:r>
            <a:r>
              <a:rPr kumimoji="1"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/</a:t>
            </a:r>
            <a:r>
              <a:rPr kumimoji="1"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视频表征  </a:t>
            </a:r>
            <a:r>
              <a:rPr kumimoji="1" lang="en-US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≠</a:t>
            </a:r>
            <a:r>
              <a:rPr kumimoji="1"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  最好的动作表征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201833-8A46-1415-D33D-3A659EEF627C}"/>
              </a:ext>
            </a:extLst>
          </p:cNvPr>
          <p:cNvSpPr txBox="1"/>
          <p:nvPr/>
        </p:nvSpPr>
        <p:spPr>
          <a:xfrm>
            <a:off x="7162112" y="305269"/>
            <a:ext cx="49077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WAM</a:t>
            </a:r>
            <a:r>
              <a:rPr kumimoji="1"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：</a:t>
            </a:r>
            <a:endParaRPr kumimoji="1" lang="en-US" altLang="zh-CN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kumimoji="1" lang="zh-CN" altLang="en-US" dirty="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kumimoji="1" lang="en" altLang="zh-CN" dirty="0">
                <a:latin typeface="PingFang SC" panose="020B0400000000000000" pitchFamily="34" charset="-122"/>
                <a:ea typeface="PingFang SC" panose="020B0400000000000000" pitchFamily="34" charset="-122"/>
              </a:rPr>
              <a:t>video VAE </a:t>
            </a:r>
            <a:r>
              <a:rPr kumimoji="1" lang="zh-CN" altLang="en-US" dirty="0">
                <a:latin typeface="PingFang SC" panose="020B0400000000000000" pitchFamily="34" charset="-122"/>
                <a:ea typeface="PingFang SC" panose="020B0400000000000000" pitchFamily="34" charset="-122"/>
              </a:rPr>
              <a:t>优化的是视觉重建，</a:t>
            </a:r>
          </a:p>
          <a:p>
            <a:r>
              <a:rPr kumimoji="1" lang="zh-CN" altLang="en-US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适合 </a:t>
            </a:r>
            <a:r>
              <a:rPr kumimoji="1" lang="en" altLang="zh-CN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action-conditioned world dynamics</a:t>
            </a:r>
            <a:r>
              <a:rPr kumimoji="1" lang="zh-CN" altLang="en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吗</a:t>
            </a:r>
            <a:r>
              <a:rPr kumimoji="1" lang="zh-CN" altLang="en-US" dirty="0">
                <a:solidFill>
                  <a:srgbClr val="C00000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？</a:t>
            </a:r>
            <a:endParaRPr kumimoji="1" lang="zh-CN" altLang="en" dirty="0">
              <a:solidFill>
                <a:srgbClr val="C00000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endParaRPr kumimoji="1" lang="zh-CN" altLang="en-US" dirty="0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C950F32B-6AA1-7C1C-7CED-38761DB64757}"/>
              </a:ext>
            </a:extLst>
          </p:cNvPr>
          <p:cNvCxnSpPr/>
          <p:nvPr/>
        </p:nvCxnSpPr>
        <p:spPr>
          <a:xfrm>
            <a:off x="5505061" y="1127109"/>
            <a:ext cx="126896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601283E-FA54-6A7A-F043-58AB665ED432}"/>
              </a:ext>
            </a:extLst>
          </p:cNvPr>
          <p:cNvSpPr txBox="1"/>
          <p:nvPr/>
        </p:nvSpPr>
        <p:spPr>
          <a:xfrm>
            <a:off x="5772834" y="75777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质疑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6DD6F0B-9E3B-4D0C-9DC3-003C6358C2EF}"/>
              </a:ext>
            </a:extLst>
          </p:cNvPr>
          <p:cNvSpPr txBox="1"/>
          <p:nvPr/>
        </p:nvSpPr>
        <p:spPr>
          <a:xfrm>
            <a:off x="122099" y="3767443"/>
            <a:ext cx="50649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External tokenizer:</a:t>
            </a:r>
          </a:p>
          <a:p>
            <a:r>
              <a:rPr kumimoji="1" lang="zh-CN" altLang="en-US" dirty="0"/>
              <a:t>先压缩，再学动作</a:t>
            </a:r>
            <a:endParaRPr kumimoji="1" lang="en-US" altLang="zh-CN" dirty="0"/>
          </a:p>
          <a:p>
            <a:endParaRPr kumimoji="1" lang="zh-CN" altLang="en-US" dirty="0"/>
          </a:p>
          <a:p>
            <a:r>
              <a:rPr kumimoji="1" lang="en-US" altLang="zh-CN" dirty="0"/>
              <a:t>=&gt; </a:t>
            </a:r>
            <a:r>
              <a:rPr kumimoji="1" lang="en" altLang="zh-CN" dirty="0"/>
              <a:t>action </a:t>
            </a:r>
            <a:r>
              <a:rPr kumimoji="1" lang="zh-CN" altLang="en-US" dirty="0"/>
              <a:t>只能适配已经被保留下来的视觉信息</a:t>
            </a:r>
          </a:p>
          <a:p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B7BE6E-AD08-BCE5-7E00-5FCFFCAA9577}"/>
              </a:ext>
            </a:extLst>
          </p:cNvPr>
          <p:cNvSpPr txBox="1"/>
          <p:nvPr/>
        </p:nvSpPr>
        <p:spPr>
          <a:xfrm>
            <a:off x="-244468" y="27524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dirty="0">
                <a:solidFill>
                  <a:srgbClr val="C00000"/>
                </a:solidFill>
              </a:rPr>
              <a:t>Native WAM </a:t>
            </a:r>
            <a:r>
              <a:rPr kumimoji="1" lang="zh-CN" altLang="en-US" dirty="0">
                <a:solidFill>
                  <a:srgbClr val="C00000"/>
                </a:solidFill>
              </a:rPr>
              <a:t>的核心：让动作监督从原始观测出发，参与塑造世界动态表征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4CFCDD-F091-03E3-3DF6-BE3FD982FBB7}"/>
              </a:ext>
            </a:extLst>
          </p:cNvPr>
          <p:cNvSpPr txBox="1"/>
          <p:nvPr/>
        </p:nvSpPr>
        <p:spPr>
          <a:xfrm>
            <a:off x="5851532" y="3712097"/>
            <a:ext cx="621836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Native WAM:</a:t>
            </a:r>
          </a:p>
          <a:p>
            <a:r>
              <a:rPr kumimoji="1" lang="zh-CN" altLang="en-US" dirty="0"/>
              <a:t>边看、边预测、边学动作</a:t>
            </a:r>
            <a:endParaRPr kumimoji="1" lang="en-US" altLang="zh-CN" dirty="0"/>
          </a:p>
          <a:p>
            <a:endParaRPr kumimoji="1" lang="zh-CN" altLang="en-US" dirty="0"/>
          </a:p>
          <a:p>
            <a:pPr marL="285750" indent="-285750">
              <a:buFont typeface="Symbol" pitchFamily="2" charset="2"/>
              <a:buChar char="Þ"/>
            </a:pPr>
            <a:r>
              <a:rPr kumimoji="1" lang="en" altLang="zh-CN" dirty="0"/>
              <a:t>native </a:t>
            </a:r>
            <a:r>
              <a:rPr kumimoji="1" lang="zh-CN" altLang="en-US" dirty="0"/>
              <a:t>允许 </a:t>
            </a:r>
            <a:r>
              <a:rPr kumimoji="1" lang="en" altLang="zh-CN" dirty="0"/>
              <a:t>representation </a:t>
            </a:r>
            <a:r>
              <a:rPr kumimoji="1" lang="zh-CN" altLang="en-US" dirty="0"/>
              <a:t>被 </a:t>
            </a:r>
            <a:r>
              <a:rPr kumimoji="1" lang="en" altLang="zh-CN" dirty="0"/>
              <a:t>action supervision </a:t>
            </a:r>
            <a:r>
              <a:rPr kumimoji="1" lang="zh-CN" altLang="en-US" dirty="0"/>
              <a:t>直接塑形</a:t>
            </a:r>
            <a:endParaRPr kumimoji="1" lang="en-US" altLang="zh-CN" dirty="0"/>
          </a:p>
          <a:p>
            <a:pPr marL="285750" indent="-285750">
              <a:buFont typeface="Symbol" pitchFamily="2" charset="2"/>
              <a:buChar char="Þ"/>
            </a:pPr>
            <a:r>
              <a:rPr kumimoji="1" lang="zh-CN" altLang="en-US" dirty="0"/>
              <a:t>更好的处理</a:t>
            </a:r>
            <a:r>
              <a:rPr kumimoji="1" lang="en" altLang="zh-CN" dirty="0"/>
              <a:t>Variable Resolution Input</a:t>
            </a:r>
            <a:endParaRPr kumimoji="1" lang="zh-CN" altLang="en-US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7916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9E6CAF7-55B1-1D7A-7623-B76DE91E6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49" y="1660266"/>
            <a:ext cx="5448300" cy="277013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1544867-1861-FB21-26E4-8277F00FBA3A}"/>
              </a:ext>
            </a:extLst>
          </p:cNvPr>
          <p:cNvSpPr txBox="1"/>
          <p:nvPr/>
        </p:nvSpPr>
        <p:spPr>
          <a:xfrm>
            <a:off x="6419849" y="621506"/>
            <a:ext cx="5322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Latent Forcing: Reordering the Diffusion Trajectory for  Pixel-Space Image Generation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0B7B66-6D8D-37B8-4884-17C247366D00}"/>
              </a:ext>
            </a:extLst>
          </p:cNvPr>
          <p:cNvSpPr txBox="1"/>
          <p:nvPr/>
        </p:nvSpPr>
        <p:spPr>
          <a:xfrm>
            <a:off x="171450" y="621506"/>
            <a:ext cx="5322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Representation Forcing for Bottleneck-Free Unified Multimodal Model</a:t>
            </a:r>
          </a:p>
          <a:p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784A80-FF40-5279-4575-662C59346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6" y="1874579"/>
            <a:ext cx="5819748" cy="241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5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725</Words>
  <Application>Microsoft Macintosh PowerPoint</Application>
  <PresentationFormat>宽屏</PresentationFormat>
  <Paragraphs>111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等线</vt:lpstr>
      <vt:lpstr>等线 Light</vt:lpstr>
      <vt:lpstr>PingFang SC</vt:lpstr>
      <vt:lpstr>Aptos</vt:lpstr>
      <vt:lpstr>Aptos Mono</vt:lpstr>
      <vt:lpstr>Arial</vt:lpstr>
      <vt:lpstr>Symbol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wuqingman</dc:creator>
  <cp:lastModifiedBy>wuqingman</cp:lastModifiedBy>
  <cp:revision>4</cp:revision>
  <dcterms:created xsi:type="dcterms:W3CDTF">2026-06-10T00:32:57Z</dcterms:created>
  <dcterms:modified xsi:type="dcterms:W3CDTF">2026-06-11T01:59:34Z</dcterms:modified>
</cp:coreProperties>
</file>